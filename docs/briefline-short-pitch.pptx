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3"/>
          </a:solidFill>
          <a:ln>
            <a:solidFill>
              <a:srgbClr val="07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-50292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123F82"/>
          </a:solidFill>
          <a:ln>
            <a:solidFill>
              <a:srgbClr val="12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-164592"/>
            <a:ext cx="1280160" cy="1280160"/>
          </a:xfrm>
          <a:prstGeom prst="roundRect">
            <a:avLst>
              <a:gd name="adj" fmla="val 12000"/>
            </a:avLst>
          </a:prstGeom>
          <a:solidFill>
            <a:srgbClr val="2469C2"/>
          </a:solidFill>
          <a:ln>
            <a:solidFill>
              <a:srgbClr val="246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3E6BE"/>
                </a:solidFill>
                <a:latin typeface="Aptos"/>
              </a:rPr>
              <a:t>SNAPDRAGON AI PC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24712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000" b="1" i="0">
                <a:solidFill>
                  <a:srgbClr val="EEF5FF"/>
                </a:solidFill>
                <a:latin typeface="Aptos"/>
              </a:rPr>
              <a:t>Meetings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000" b="1" i="0">
                <a:solidFill>
                  <a:srgbClr val="63E6BE"/>
                </a:solidFill>
                <a:latin typeface="Aptos"/>
              </a:rPr>
              <a:t>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9144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EEF5FF"/>
                </a:solidFill>
                <a:latin typeface="Aptos"/>
              </a:rPr>
              <a:t>Private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35808"/>
            <a:ext cx="80467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DBE9FA"/>
                </a:solidFill>
                <a:latin typeface="Aptos"/>
              </a:rPr>
              <a:t>Briefline is an evidence-linked meeting and document copilot built for Snapdragon-powered HP PCs.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133087"/>
            <a:ext cx="1353312" cy="329184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178808"/>
            <a:ext cx="13533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FE0F5"/>
                </a:solidFill>
                <a:latin typeface="Aptos"/>
              </a:rPr>
              <a:t>On-device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9696" y="4133087"/>
            <a:ext cx="1353312" cy="329184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9696" y="4178808"/>
            <a:ext cx="13533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FE0F5"/>
                </a:solidFill>
                <a:latin typeface="Aptos"/>
              </a:rPr>
              <a:t>Offline-first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1024" y="4133087"/>
            <a:ext cx="1508760" cy="329184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4178808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FE0F5"/>
                </a:solidFill>
                <a:latin typeface="Aptos"/>
              </a:rPr>
              <a:t>Accessible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4133087"/>
            <a:ext cx="1508760" cy="329184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4178808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FE0F5"/>
                </a:solidFill>
                <a:latin typeface="Aptos"/>
              </a:rPr>
              <a:t>Evidence-linked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983A3"/>
                </a:solidFill>
                <a:latin typeface="Aptos"/>
              </a:rPr>
              <a:t>BRIEFLINE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1967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983A3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3"/>
          </a:solidFill>
          <a:ln>
            <a:solidFill>
              <a:srgbClr val="07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-50292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123F82"/>
          </a:solidFill>
          <a:ln>
            <a:solidFill>
              <a:srgbClr val="12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-164592"/>
            <a:ext cx="1280160" cy="1280160"/>
          </a:xfrm>
          <a:prstGeom prst="roundRect">
            <a:avLst>
              <a:gd name="adj" fmla="val 12000"/>
            </a:avLst>
          </a:prstGeom>
          <a:solidFill>
            <a:srgbClr val="2469C2"/>
          </a:solidFill>
          <a:ln>
            <a:solidFill>
              <a:srgbClr val="246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3E6BE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789920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 i="0">
                <a:solidFill>
                  <a:srgbClr val="EEF5FF"/>
                </a:solidFill>
                <a:latin typeface="Aptos"/>
              </a:rPr>
              <a:t>The most important part of a meeting is what happens after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62432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633472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82112"/>
            <a:ext cx="31181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Context gets lost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29584"/>
            <a:ext cx="3118104" cy="7040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People remember fragments, not the full chain from conversation to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42316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262432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633472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82112"/>
            <a:ext cx="31181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Cloud is not always acceptable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529584"/>
            <a:ext cx="3118104" cy="7040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Confidential client work, unpublished ideas, and weak connectivity need a local option.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423160"/>
            <a:ext cx="3520440" cy="196596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262432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633472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182112"/>
            <a:ext cx="31181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Summaries are hard to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529584"/>
            <a:ext cx="3118104" cy="7040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A polished paragraph is not enough if nobody can check where it came from.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983A3"/>
                </a:solidFill>
                <a:latin typeface="Aptos"/>
              </a:rPr>
              <a:t>WHY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1967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983A3"/>
                </a:solidFill>
                <a:latin typeface="Apto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3"/>
          </a:solidFill>
          <a:ln>
            <a:solidFill>
              <a:srgbClr val="07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-50292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123F82"/>
          </a:solidFill>
          <a:ln>
            <a:solidFill>
              <a:srgbClr val="12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-164592"/>
            <a:ext cx="1280160" cy="1280160"/>
          </a:xfrm>
          <a:prstGeom prst="roundRect">
            <a:avLst>
              <a:gd name="adj" fmla="val 12000"/>
            </a:avLst>
          </a:prstGeom>
          <a:solidFill>
            <a:srgbClr val="2469C2"/>
          </a:solidFill>
          <a:ln>
            <a:solidFill>
              <a:srgbClr val="246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3E6BE"/>
                </a:solidFill>
                <a:latin typeface="Aptos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 i="0">
                <a:solidFill>
                  <a:srgbClr val="EEF5FF"/>
                </a:solidFill>
                <a:latin typeface="Aptos"/>
              </a:rPr>
              <a:t>Briefline creates a brief you can verify.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6400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A9BDD7"/>
                </a:solidFill>
                <a:latin typeface="Aptos"/>
              </a:rPr>
              <a:t>It listens locally, structures what changed, and links every action or decision to the source that supports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78608"/>
            <a:ext cx="6446520" cy="960120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79776"/>
            <a:ext cx="5989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1">
                <a:solidFill>
                  <a:srgbClr val="EEF5FF"/>
                </a:solidFill>
                <a:latin typeface="Aptos"/>
              </a:rPr>
              <a:t>“Useful conclusion + the evidence behind it — without uploading the work.”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508760"/>
            <a:ext cx="3858768" cy="310896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36408" y="170992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719072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267712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One local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615184"/>
            <a:ext cx="3456432" cy="18470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Live transcript
Decisions and action owners
Deadlines and open questions
Timestamp and document evidence
Editable export-ready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983A3"/>
                </a:solidFill>
                <a:latin typeface="Aptos"/>
              </a:rPr>
              <a:t>WHAT WE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1967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983A3"/>
                </a:solidFill>
                <a:latin typeface="Apto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3"/>
          </a:solidFill>
          <a:ln>
            <a:solidFill>
              <a:srgbClr val="07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-50292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123F82"/>
          </a:solidFill>
          <a:ln>
            <a:solidFill>
              <a:srgbClr val="12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-164592"/>
            <a:ext cx="1280160" cy="1280160"/>
          </a:xfrm>
          <a:prstGeom prst="roundRect">
            <a:avLst>
              <a:gd name="adj" fmla="val 12000"/>
            </a:avLst>
          </a:prstGeom>
          <a:solidFill>
            <a:srgbClr val="2469C2"/>
          </a:solidFill>
          <a:ln>
            <a:solidFill>
              <a:srgbClr val="246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3E6BE"/>
                </a:solidFill>
                <a:latin typeface="Aptos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7899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EEF5FF"/>
                </a:solidFill>
                <a:latin typeface="Aptos"/>
              </a:rPr>
              <a:t>From conversation to a checked next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624328" cy="246888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075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33472"/>
            <a:ext cx="2221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Microphone or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2221992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Audio, PDFs, images, and notes remain inside the local workspace.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874519"/>
            <a:ext cx="2624328" cy="246888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9896" y="2075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084831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633472"/>
            <a:ext cx="2221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Transcribe and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2980944"/>
            <a:ext cx="2221992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Local models extract speech and document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1874519"/>
            <a:ext cx="2624328" cy="246888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0255" y="2075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5" y="2084831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5" y="2633472"/>
            <a:ext cx="2221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Find what changed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5" y="2980944"/>
            <a:ext cx="2221992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Decisions, owners, dates, and questions become editable cards.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1874519"/>
            <a:ext cx="2624328" cy="246888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0616" y="2075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2084831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2633472"/>
            <a:ext cx="2221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Show the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6" y="2980944"/>
            <a:ext cx="2221992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Every result opens its supporting timestamp or source region.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983A3"/>
                </a:solidFill>
                <a:latin typeface="Aptos"/>
              </a:rPr>
              <a:t>PRODUCT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1967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983A3"/>
                </a:solidFill>
                <a:latin typeface="Apto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3"/>
          </a:solidFill>
          <a:ln>
            <a:solidFill>
              <a:srgbClr val="07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-50292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123F82"/>
          </a:solidFill>
          <a:ln>
            <a:solidFill>
              <a:srgbClr val="12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-164592"/>
            <a:ext cx="1280160" cy="1280160"/>
          </a:xfrm>
          <a:prstGeom prst="roundRect">
            <a:avLst>
              <a:gd name="adj" fmla="val 12000"/>
            </a:avLst>
          </a:prstGeom>
          <a:solidFill>
            <a:srgbClr val="2469C2"/>
          </a:solidFill>
          <a:ln>
            <a:solidFill>
              <a:srgbClr val="246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3E6BE"/>
                </a:solidFill>
                <a:latin typeface="Aptos"/>
              </a:rPr>
              <a:t>BUILT FOR SNAPDRAGON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EEF5FF"/>
                </a:solidFill>
                <a:latin typeface="Aptos"/>
              </a:rPr>
              <a:t>Use the device’s AI engine, not a generic cloud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035808" cy="201168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075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84831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633472"/>
            <a:ext cx="2633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Qualcomm AI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263347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Whisper-Medium for multilingual speech recognition.
Qwen3-0.6B for structured extraction.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42032"/>
            <a:ext cx="457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63E6B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74519"/>
            <a:ext cx="3154680" cy="2011680"/>
          </a:xfrm>
          <a:prstGeom prst="roundRect">
            <a:avLst>
              <a:gd name="adj" fmla="val 12000"/>
            </a:avLst>
          </a:prstGeom>
          <a:solidFill>
            <a:srgbClr val="163765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27448" y="2075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084831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633472"/>
            <a:ext cx="27523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Snapdragon 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80944"/>
            <a:ext cx="275234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Profile and deploy compiled assets for NPU/GPU/CPU execution on the HP PC.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542032"/>
            <a:ext cx="457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63E6B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874519"/>
            <a:ext cx="2990088" cy="201168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05088" y="2075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D5CB8"/>
          </a:solidFill>
          <a:ln>
            <a:solidFill>
              <a:srgbClr val="1D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2084831"/>
            <a:ext cx="3840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EF5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633472"/>
            <a:ext cx="25877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EF5FF"/>
                </a:solidFill>
                <a:latin typeface="Aptos"/>
              </a:rPr>
              <a:t>Briefline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980944"/>
            <a:ext cx="258775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9BDD7"/>
                </a:solidFill>
                <a:latin typeface="Aptos"/>
              </a:rPr>
              <a:t>Tauri + React interface, local SQLite search, offline export.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17720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63E6BE"/>
                </a:solidFill>
                <a:latin typeface="Apto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93208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9BDD7"/>
                </a:solidFill>
                <a:latin typeface="Aptos"/>
              </a:rPr>
              <a:t>required cloud calls in the core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617720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63E6BE"/>
                </a:solidFill>
                <a:latin typeface="Aptos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5093208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9BDD7"/>
                </a:solidFill>
                <a:latin typeface="Aptos"/>
              </a:rPr>
              <a:t>of results designed to carry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617720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63E6BE"/>
                </a:solidFill>
                <a:latin typeface="Aptos"/>
              </a:rPr>
              <a:t>2 tiers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5093208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9BDD7"/>
                </a:solidFill>
                <a:latin typeface="Aptos"/>
              </a:rPr>
              <a:t>Snapdragon X Elite and X Plus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4617720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63E6BE"/>
                </a:solidFill>
                <a:latin typeface="Aptos"/>
              </a:rPr>
              <a:t>3 modes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5093208"/>
            <a:ext cx="21945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A9BDD7"/>
                </a:solidFill>
                <a:latin typeface="Aptos"/>
              </a:rPr>
              <a:t>quality, balanced, low-power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983A3"/>
                </a:solidFill>
                <a:latin typeface="Aptos"/>
              </a:rPr>
              <a:t>TECHNICAL 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51967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983A3"/>
                </a:solidFill>
                <a:latin typeface="Apto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3"/>
          </a:solidFill>
          <a:ln>
            <a:solidFill>
              <a:srgbClr val="07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-50292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123F82"/>
          </a:solidFill>
          <a:ln>
            <a:solidFill>
              <a:srgbClr val="12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-164592"/>
            <a:ext cx="1280160" cy="1280160"/>
          </a:xfrm>
          <a:prstGeom prst="roundRect">
            <a:avLst>
              <a:gd name="adj" fmla="val 12000"/>
            </a:avLst>
          </a:prstGeom>
          <a:solidFill>
            <a:srgbClr val="2469C2"/>
          </a:solidFill>
          <a:ln>
            <a:solidFill>
              <a:srgbClr val="246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3E6BE"/>
                </a:solidFill>
                <a:latin typeface="Aptos"/>
              </a:rPr>
              <a:t>TRUST AND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107899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EF5FF"/>
                </a:solidFill>
                <a:latin typeface="Aptos"/>
              </a:rPr>
              <a:t>Private enough for real work. Simple enough for everyone.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84248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3E6BE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2002536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9E7F7"/>
                </a:solidFill>
                <a:latin typeface="Aptos"/>
              </a:rPr>
              <a:t>Local-only mode enabled by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901952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984248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3E6BE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002536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9E7F7"/>
                </a:solidFill>
                <a:latin typeface="Aptos"/>
              </a:rPr>
              <a:t>Pause and delete controls per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87752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670048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3E6BE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2688336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9E7F7"/>
                </a:solidFill>
                <a:latin typeface="Aptos"/>
              </a:rPr>
              <a:t>No account required for core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2587752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670048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3E6BE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688336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9E7F7"/>
                </a:solidFill>
                <a:latin typeface="Aptos"/>
              </a:rPr>
              <a:t>Keyboard navigation and visible focus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73552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355848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3E6BE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3374136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9E7F7"/>
                </a:solidFill>
                <a:latin typeface="Aptos"/>
              </a:rPr>
              <a:t>Scalable typography and high contrast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273552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355848"/>
            <a:ext cx="2468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3E6BE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3374136"/>
            <a:ext cx="4343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9E7F7"/>
                </a:solidFill>
                <a:latin typeface="Aptos"/>
              </a:rPr>
              <a:t>Uncertain output is labeled, not hidden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89120"/>
            <a:ext cx="9601200" cy="777240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590288"/>
            <a:ext cx="9144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1">
                <a:solidFill>
                  <a:srgbClr val="EEF5FF"/>
                </a:solidFill>
                <a:latin typeface="Aptos"/>
              </a:rPr>
              <a:t>A local AI assistant should not just be faster. It should make the user more comfortable using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983A3"/>
                </a:solidFill>
                <a:latin typeface="Aptos"/>
              </a:rPr>
              <a:t>DEPLOYMENT &amp; ACCESSIBILITY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1967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983A3"/>
                </a:solidFill>
                <a:latin typeface="Apto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3"/>
          </a:solidFill>
          <a:ln>
            <a:solidFill>
              <a:srgbClr val="07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-502920"/>
            <a:ext cx="2194560" cy="2194560"/>
          </a:xfrm>
          <a:prstGeom prst="roundRect">
            <a:avLst>
              <a:gd name="adj" fmla="val 12000"/>
            </a:avLst>
          </a:prstGeom>
          <a:solidFill>
            <a:srgbClr val="123F82"/>
          </a:solidFill>
          <a:ln>
            <a:solidFill>
              <a:srgbClr val="123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-164592"/>
            <a:ext cx="1280160" cy="1280160"/>
          </a:xfrm>
          <a:prstGeom prst="roundRect">
            <a:avLst>
              <a:gd name="adj" fmla="val 12000"/>
            </a:avLst>
          </a:prstGeom>
          <a:solidFill>
            <a:srgbClr val="2469C2"/>
          </a:solidFill>
          <a:ln>
            <a:solidFill>
              <a:srgbClr val="246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3E6BE"/>
                </a:solidFill>
                <a:latin typeface="Aptos"/>
              </a:rPr>
              <a:t>THE 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9692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EEF5FF"/>
                </a:solidFill>
                <a:latin typeface="Aptos"/>
              </a:rPr>
              <a:t>Make the next step obvious.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96926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63E6BE"/>
                </a:solidFill>
                <a:latin typeface="Aptos"/>
              </a:rPr>
              <a:t>Keep the work yours.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87752"/>
            <a:ext cx="8503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DBE9FA"/>
                </a:solidFill>
                <a:latin typeface="Aptos"/>
              </a:rPr>
              <a:t>Briefline turns the Snapdragon-powered HP PC into a private, practical partner for the work that follows every conversation.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86200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941063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FE0F5"/>
                </a:solidFill>
                <a:latin typeface="Aptos"/>
              </a:rPr>
              <a:t>Working prototype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3886200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3941063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FE0F5"/>
                </a:solidFill>
                <a:latin typeface="Aptos"/>
              </a:rPr>
              <a:t>Measured on device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3886200"/>
            <a:ext cx="1737360" cy="329184"/>
          </a:xfrm>
          <a:prstGeom prst="roundRect">
            <a:avLst>
              <a:gd name="adj" fmla="val 12000"/>
            </a:avLst>
          </a:prstGeom>
          <a:solidFill>
            <a:srgbClr val="071423"/>
          </a:solidFill>
          <a:ln>
            <a:solidFill>
              <a:srgbClr val="29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3941063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FE0F5"/>
                </a:solidFill>
                <a:latin typeface="Aptos"/>
              </a:rPr>
              <a:t>Open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983A3"/>
                </a:solidFill>
                <a:latin typeface="Aptos"/>
              </a:rPr>
              <a:t>BRIEFLINE · SNAPDRAGON AI PC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19672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983A3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